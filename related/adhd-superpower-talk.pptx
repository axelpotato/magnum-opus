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before 0:00
Don't read the title. Let the room settle. Click to the blank page and start on the kid.</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 0:00–1:30 · the kid at the anthill
Think of a kid who can't sit through dinner. Ten minutes at the table is torture. Put the same kid in front of an anthill and they'll lie on their stomach for an hour, watching, and you'll have to drag them away.
Same attention. Different job.
→ CLICK as you say that line. It appears on screen.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 still the kid
Hold that kid in mind.
I've got six things most of us believe about meditation, and I think all six are wrong. I believed every one of them.
→ CLICK to the poster line.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 1:30
This is the poster line. Say it out loud once, the way it's written. Let it sit for a second before you soften it.
→ CLICK.</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 six things
Well. Six things. I believed all six.
→ CLICK to Myth 1.</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1 · 1:30–4:30 · "Meditation is watching your breath and not getting distracted."
That's the version most of us got. Sit still, watch the breath, when you drift, come back. Every day.
What's actually going on: that's the beginner's drill from one tradition, and the tradition was nothing like the drill. Here's what Zen training actually looked like. The master walks the hall with a bamboo stick. You're sitting, you drift, you slump, and you get hit. First you're angry, and you can't do anything about it. Then you start to fear the stick. Every corner, every doorway: is he there? Then he leaves you alone for a month. You relax. That's when you get hit again. He's been doing this for twenty years. You cannot outguess him.
Eventually something gives. You notice he isn't hitting you all day. It's a bamboo switch. It stings and it passes. And you stop bracing for it. You take it the way you take a mosquito. That was the lesson, and it took years: stop bracing against what's coming, because you never controlled it anyway. Acceptance, taught by a man with a stick who knew exactly what he was doing.
Try putting that in an app. By today's standards it's assault. So the tradition got cleaned up until it fit on a phone, and what was left is the part that's easy to teach and easy to keep subscribed to. The breath, on its own. It's like learning a language and being handed only the alphabet. You can drill the alphabet for ten years. You'll say it beautifully. You still can't order a coffee. A piece of a method, without the method, stops being the method. A copy of a copy, and it suits the brain that's fine doing one thing over and over. Most brains are. That's why it spread.
→ CLICK to reveal: A copy of a copy.</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1 · the landing
A copy of a copy.
So we were handed one exercise and told it was the whole thing. And when it didn't work, we were told the problem was us.
JOIN IN (your own, said flat): you also tried learning meditation online. It had some effect. Cool effects, even. But it never felt like "that's it." No app, no brand.
→ CLICK to Myth 2.</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2 · 4:30–6:30 · "If it bores you, your mind is weak. Keep going and it'll improve."
I believed this one for years. Push through, and one day it clicks.
What's actually going on: different brains need different practices at the start. Not forever. Over time a brain learns to work differently, and once it has, it stops caring what the practice is. Observe this, observe that: everything gets more and more interesting.
So boredom at the beginning isn't a sign that it's the wrong practice. It's a sign that it's the wrong practice right now. Boredom is what we feel when we don't understand what we're doing, or why. That's a guidance problem, not a mind problem.
→ CLICK to reveal: Wrong practice. Right now.</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2 · the landing
Wrong practice. Right now.
Without guidance, here's the loop. You watch your breath, you get bored, you decide it's stupid, and it stops working. And the moment you call it boredom, the practice gets worse. It feeds itself.
Which is why you can't force this, any more than you can force yourself to fall asleep. You set up conditions: guidance, and a practice that fits your brain today. We'll come back to that.
And for the record: I still get bored for the first few minutes, every time. That's not the wrong practice. That's the warm-up.
→ CLICK to Myth 3.</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3 · 6:30–9:30 · "ADHD means you can't focus."
This is the one the whole diagnosis is built on. The name says it: attention deficit. Something missing.
What's actually going on: two things are true about that brain.
One, it runs on novelty. New thing, full attention. Same thing again, attention gone. That's the reward wiring, not a character flaw.
Two, it's called distractible. A door opens, a bird goes past, a chair creaks, and your attention goes with it. (Say: remember those. They come back later.) And that's where the name is wrong. Look at what's actually happening. Most brains never even receive the door and the bird. A filter drops them before they arrive. Yours receives everything. That's not a failure to focus. That's a brain that picks up more. Highly perceptive, and nobody handed it the controls.
One theory why it exists, and I like it. Go back far enough and we were all out looking for food. The brain that noticed the broken twig, the footprint, the sound behind you, kept everyone alive. Notice everything, love what's new: that was the best brain in the group. Then we built a world of nine-to-fives and textbooks and doing the same thing every day, and the same brain got a diagnosis. And here's the part nobody says out loud: as the world moved that way, meditation moved with it. It became one more sit-still-and-repeat task.
→ CLICK to reveal the apertures.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3 · the landing
But look at what's happening. That brain isn't failing to focus. It's picking up more. A wider aperture with no steering wheel. Most brains filter that out before it arrives. Yours doesn't.
And everyone has this brain some of the time. After coffee. In a new city. When you're in love. You know exactly what I'm describing.
Now put that brain in front of the breath exercise. Task one: repeat. Task two: ignore everything else. You've just asked it to do the two things it's worst at. Of course it left the room.
PLANT (one line, no explanation):
Today is about the aperture. The steering wheel is a different talk. The day after tomorrow, in fact.
→ CLICK to Myth 4.</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4 · 9:30–11:30 · "A good meditator has a still, empty mind."
The picture in everyone's head: a monk, motionless, thinking nothing, for thirty years.
What's actually going on: nobody could watch their breath for thirty years. What long-term practitioners do is closer to the anthill. They explore. Take a feeling, ask where it comes from, find something under it, ask again. There's always another layer, and nobody's found the bottom.
→ CLICK to reveal: Exploring. Layer under layer.</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4 · the landing
That kind of practice needs exactly two things. A hunger for what's new, because every layer is new. And perception fine enough to notice what's under the last thing you noticed.
Those are the two "problems" from myth three. In the boring version they disqualify you. In the real version they're the engine. The brain that receives everything gets to the next layer faster than the brain that filters. In this kind of practice, you're ahead.
→ CLICK to the flip table.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FLIP · 11:30
Same two traits, two practices. Point at the table, don't read it.
Hunger for novelty: in breath-watching it gets bored. In exploring, every layer is new.
Fine perception: in breath-watching it gets distracted. In exploring, it notices the next layer.
And the conditions from myth two: a task that fits the brain, no clock, and other people doing it next to you, because attention is contagious. Hold that. Two more myths. The one I hear most, then the biggest one.
→ CLICK to Myth 5.</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5 · 11:30–13:30 · "I have too many thoughts. I'm doing it wrong."
I hear this one most. And I said it most.
What's actually going on: in a proper practice, thinking isn't the failure. It's the process. When the body and the mind start to let go, the tension comes out as thoughts. Plans, memories, arguments you never had. That's mental tension leaving. It's supposed to happen.
→ CLICK to reveal: Thoughts are the tension leaving. Notice, return.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5 · the landing
The only job you have is this: when you notice you're thinking, you come back to the practice. That's it. Not fight the thought. Not analyse it. Not feel bad about it. Notice, return.
And how often you have to come back, how many thoughts, how loud they are: none of it measures progress. Some days it's ten times a minute. Some days twice. Both are the practice working. The only real mistake is deciding it's a mistake, because then you're back in myth two: the story makes it worse.
→ CLICK to Myth 6, the biggest one.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6 · 13:30–16:30 · "Meditation is the point. Meditate more and it comes."
This is the one I believed longest. If I just sat more, it would come.
What's actually going on: meditation is not what any spiritual tradition is about. Neither is yoga. Take yoga. What we got is a stretching class. In the original system the postures are one part of eight. The other seven are about how you live, how you breathe, and where your attention goes. And that's just one branch of it. There's a yoga of action, a yoga of devotion, a yoga of knowledge, a yoga of the mind. The postures were the warm-up for sitting still. We took the warm-up, built an industry on it, and called it yoga.
Meditation went the same way. It's a tool inside something much bigger: a whole way of developing a human being. And each of those wholes was built for its time and its place. A monastery in Japan. A village in India two thousand years ago. Its language, its food, its daily life. The depth is real. But for someone in this room, in 2026, with a laptop and a flight next week, getting full access to it is close to impossible, and most of it wouldn't be relevant anyway.
So what reaches us is the tool without the whole. And here's what happens to a tool without guidance, nearly every time: it turns into something that makes you feel better. That's all. A healthier way to get through the day. Some people have a drink after work. The more mindful ones sit for twenty minutes. Same job. I did that for years, and I'm not knocking it. It's better than the drink.
But it never touches the root. It doesn't teach you to actually take charge of your attention, and it doesn't deal with what's going on inside you. It manages the pressure. It doesn't solve where the pressure comes from.
Guidance means someone who has walked it, telling you the next step, and checking. That isn't a talk. That's the Saturday workshop.
→ CLICK to reveal: Meditation is a tool. Development is the goal.</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 6 · the landing
The goal was never meditation. The goal is development: a person who sees more, reacts less, and can do more. Meditation is one tool for that. A good one. Not the main thing, and not something you do and then wait.
That's why Anna and I chose the method we work in. Twenty years, two centres. Our teacher took a whole method of human development and rebuilt it for people like us: step by step, in plain language, practical, something you can do inside a normal life. That's the part I'll go into on Friday.
WHAT CHANGES (say the list; Friday cashes it): in a hard situation you see more options. A reaction that used to last days lasts hours, then minutes. You have the conversation you've been avoiding. People start asking what happened to your face. From the outside: calmer, but warm. People say you're steadying to be around.
→ CLICK to the practice frame.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 16:30–21:30 · listening, then listening with the whole body
Frame it in one breath:
So here's one tool. Not the thing. One that fits this brain. And if you find yourself thinking in it: notice, return. That's the practice, not the failure. Everything that would have pulled you off the breath, the door, the chair, someone's stomach, is the practice now. The goal is not to finish. The goal is to find one thing you hadn't noticed before. If you get bored, you've slipped back into the old version. Go smaller.
PLANT:
This is the whole of what we call stillness: attention on what's actually there, not on a task.
→ CLICK to "Listen." and start part one.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 2 min · listening
Eyes closed, or soften your gaze to the floor. Don't pick a sound. Let them come to you.
(20–30 sec)
How many different sounds can you find?
(20–30 sec)
Now the farthest one.
(20–30 sec)
Now the quietest one.
(20–30 sec)
Now the one underneath the one you just found.
Say each cue once. Silence after each. Then → CLICK to part two.</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 2–3 min · listening with the whole body
Now stop listening with your ears. Listen with the whole body.
Where does each sound land? The low ones, the sharp ones.
Notice the body reacting before you've named the sound.
Find the sound you can feel but can't hear.
This is "one layer down." Say it once as the switch, then stop talking.
YOUR SLOT — how you bring them back.
Then 30 seconds of silence. Then → CLICK.</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 1–2 min
What did you find?
Two or three people, one sentence each. Don't comment on the answers. Just take them. Say thank you and move on.
Then: Notice who found the most just now. That's the superpower. It was never missing. Say thank you and move on.
→ CLICK to the recap.</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21:30–23:00 · the recap
So, six myths.
Meditation is breath-watching: no, that's the beginner's drill.
Boredom means a weak mind: no, wrong practice, right now.
ADHD can't focus: no, it perceives more, with no steering wheel.
A good meditator is empty and still: no, they're exploring, and that runs on exactly what you've got.
Thoughts mean I'm failing: no, thoughts are the tension leaving; notice, return.
Meditate more and it comes: no. Meditation is a tool. Development is the goal.
If you decided you're bad at meditation, you were handed the wrong exercise and told the problem was you.
→ CLICK to the two rules.</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the two rules
Two rules if you try again. Don't repeat, explore. Don't force, set up conditions. That's the kid at the anthill.
PLANTS for Friday:
Tension is a tax on how many doors you can see. So here's one test you can run on yourself before Friday: in a hard situation, how many options do you see? Count them. Bring the number.
Friday is the goal itself: what development is, how you move, and the method. 2 pm, same place.
[ONLY IF DAY AND PLACE ARE FIXED] We do this every week here. [DAY · PLACE]. Come once.
→ CLICK to blank. Hand it back to the room with a question, not a summary.</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 hand-back and Q&amp;A
Ask the room your question. Then Q&amp;A.
Timing: open + six myths is 16.5 minutes of talking; the whole thing about 23. Running long? Cut the hunter-gatherer paragraph in myth 3 to one sentence, and the loop in myth 2. Never cut the stick, myth 5, myth 6, or the practice.
What kills it: saying "you have a gift" (traits, not gifts); busting a myth without "I believed this too"; explaining the practice longer than doing it; skipping "what did you find?"; the school's vocabulary.
If asked what the steering wheel is: the part of you that decides where the aperture points. Friday.
Bridge check, plants said once and not explained: the steering wheel (Myth 3) · the "what changes" list + the method (Myth 6) · "what we call stillness" (practice) · the tax line + the options number + the date (close). No fist demo tonight; Friday opens with it.</a:t>
            </a:r>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1005840"/>
            <a:ext cx="7863840" cy="2286000"/>
          </a:xfrm>
          <a:prstGeom prst="rect">
            <a:avLst/>
          </a:prstGeom>
          <a:noFill/>
          <a:ln/>
        </p:spPr>
        <p:txBody>
          <a:bodyPr wrap="square" lIns="0" tIns="0" rIns="0" bIns="0" rtlCol="0" anchor="ctr"/>
          <a:lstStyle/>
          <a:p>
            <a:pPr algn="ctr" indent="0" marL="0">
              <a:lnSpc>
                <a:spcPct val="105000"/>
              </a:lnSpc>
              <a:buNone/>
            </a:pPr>
            <a:r>
              <a:rPr lang="en-US" sz="4800" b="1" dirty="0">
                <a:solidFill>
                  <a:srgbClr val="1C1C1C"/>
                </a:solidFill>
                <a:latin typeface="Playfair Display" pitchFamily="34" charset="0"/>
                <a:ea typeface="Playfair Display" pitchFamily="34" charset="-122"/>
                <a:cs typeface="Playfair Display" pitchFamily="34" charset="-120"/>
              </a:rPr>
              <a:t>Why ADHD is a meditation </a:t>
            </a:r>
            <a:pPr algn="ctr" indent="0" marL="0">
              <a:lnSpc>
                <a:spcPct val="105000"/>
              </a:lnSpc>
              <a:buNone/>
            </a:pPr>
            <a:r>
              <a:rPr lang="en-US" sz="4800" b="1" dirty="0">
                <a:solidFill>
                  <a:srgbClr val="B5382C"/>
                </a:solidFill>
                <a:latin typeface="Playfair Display" pitchFamily="34" charset="0"/>
                <a:ea typeface="Playfair Display" pitchFamily="34" charset="-122"/>
                <a:cs typeface="Playfair Display" pitchFamily="34" charset="-120"/>
              </a:rPr>
              <a:t>superpower</a:t>
            </a:r>
            <a:endParaRPr lang="en-US" sz="4800" dirty="0"/>
          </a:p>
        </p:txBody>
      </p:sp>
      <p:sp>
        <p:nvSpPr>
          <p:cNvPr id="4" name="Shape 1"/>
          <p:cNvSpPr/>
          <p:nvPr/>
        </p:nvSpPr>
        <p:spPr>
          <a:xfrm>
            <a:off x="3840480" y="3566160"/>
            <a:ext cx="1463040" cy="36576"/>
          </a:xfrm>
          <a:prstGeom prst="rect">
            <a:avLst/>
          </a:prstGeom>
          <a:solidFill>
            <a:srgbClr val="B5382C"/>
          </a:solidFill>
          <a:ln w="12700">
            <a:solidFill>
              <a:srgbClr val="B5382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1097280"/>
            <a:ext cx="7863840" cy="2194560"/>
          </a:xfrm>
          <a:prstGeom prst="rect">
            <a:avLst/>
          </a:prstGeom>
          <a:noFill/>
          <a:ln/>
        </p:spPr>
        <p:txBody>
          <a:bodyPr wrap="square" lIns="0" tIns="0" rIns="0" bIns="0" rtlCol="0" anchor="ctr"/>
          <a:lstStyle/>
          <a:p>
            <a:pPr algn="ctr" indent="0" marL="0">
              <a:lnSpc>
                <a:spcPct val="105000"/>
              </a:lnSpc>
              <a:buNone/>
            </a:pPr>
            <a:r>
              <a:rPr lang="en-US" sz="5400" b="1" dirty="0">
                <a:solidFill>
                  <a:srgbClr val="1C1C1C"/>
                </a:solidFill>
                <a:latin typeface="Playfair Display" pitchFamily="34" charset="0"/>
                <a:ea typeface="Playfair Display" pitchFamily="34" charset="-122"/>
                <a:cs typeface="Playfair Display" pitchFamily="34" charset="-120"/>
              </a:rPr>
              <a:t>Same attention.</a:t>
            </a:r>
            <a:endParaRPr lang="en-US" sz="5400" dirty="0"/>
          </a:p>
          <a:p>
            <a:pPr algn="ctr" indent="0" marL="0">
              <a:lnSpc>
                <a:spcPct val="105000"/>
              </a:lnSpc>
              <a:buNone/>
            </a:pPr>
            <a:r>
              <a:rPr lang="en-US" sz="5400" b="1" dirty="0">
                <a:solidFill>
                  <a:srgbClr val="1C1C1C"/>
                </a:solidFill>
                <a:latin typeface="Playfair Display" pitchFamily="34" charset="0"/>
                <a:ea typeface="Playfair Display" pitchFamily="34" charset="-122"/>
                <a:cs typeface="Playfair Display" pitchFamily="34" charset="-120"/>
              </a:rPr>
              <a:t>Different job.</a:t>
            </a:r>
            <a:endParaRPr lang="en-US"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822960"/>
            <a:ext cx="7863840" cy="2743200"/>
          </a:xfrm>
          <a:prstGeom prst="rect">
            <a:avLst/>
          </a:prstGeom>
          <a:noFill/>
          <a:ln/>
        </p:spPr>
        <p:txBody>
          <a:bodyPr wrap="square" lIns="0" tIns="0" rIns="0" bIns="0" rtlCol="0" anchor="ctr"/>
          <a:lstStyle/>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Everything we have been taught about meditation is </a:t>
            </a:r>
            <a:pPr algn="ctr" indent="0" marL="0">
              <a:lnSpc>
                <a:spcPct val="105000"/>
              </a:lnSpc>
              <a:buNone/>
            </a:pPr>
            <a:r>
              <a:rPr lang="en-US" sz="4000" b="1" dirty="0">
                <a:solidFill>
                  <a:srgbClr val="B5382C"/>
                </a:solidFill>
                <a:latin typeface="Playfair Display" pitchFamily="34" charset="0"/>
                <a:ea typeface="Playfair Display" pitchFamily="34" charset="-122"/>
                <a:cs typeface="Playfair Display" pitchFamily="34" charset="-120"/>
              </a:rPr>
              <a:t>BS</a:t>
            </a:r>
            <a:endParaRPr lang="en-US" sz="4000" dirty="0"/>
          </a:p>
        </p:txBody>
      </p:sp>
      <p:sp>
        <p:nvSpPr>
          <p:cNvPr id="4" name="Shape 1"/>
          <p:cNvSpPr/>
          <p:nvPr/>
        </p:nvSpPr>
        <p:spPr>
          <a:xfrm>
            <a:off x="3840480" y="3794760"/>
            <a:ext cx="1463040" cy="36576"/>
          </a:xfrm>
          <a:prstGeom prst="rect">
            <a:avLst/>
          </a:prstGeom>
          <a:solidFill>
            <a:srgbClr val="B5382C"/>
          </a:solidFill>
          <a:ln w="12700">
            <a:solidFill>
              <a:srgbClr val="B5382C"/>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640080"/>
            <a:ext cx="7863840" cy="2468880"/>
          </a:xfrm>
          <a:prstGeom prst="rect">
            <a:avLst/>
          </a:prstGeom>
          <a:noFill/>
          <a:ln/>
        </p:spPr>
        <p:txBody>
          <a:bodyPr wrap="square" lIns="0" tIns="0" rIns="0" bIns="0" rtlCol="0" anchor="ctr"/>
          <a:lstStyle/>
          <a:p>
            <a:pPr algn="ctr" indent="0" marL="0">
              <a:lnSpc>
                <a:spcPct val="105000"/>
              </a:lnSpc>
              <a:buNone/>
            </a:pPr>
            <a:r>
              <a:rPr lang="en-US" sz="3600" b="1" dirty="0">
                <a:solidFill>
                  <a:srgbClr val="1C1C1C"/>
                </a:solidFill>
                <a:latin typeface="Playfair Display" pitchFamily="34" charset="0"/>
                <a:ea typeface="Playfair Display" pitchFamily="34" charset="-122"/>
                <a:cs typeface="Playfair Display" pitchFamily="34" charset="-120"/>
              </a:rPr>
              <a:t>Everything we have been taught about meditation is </a:t>
            </a:r>
            <a:pPr algn="ctr" indent="0" marL="0">
              <a:lnSpc>
                <a:spcPct val="105000"/>
              </a:lnSpc>
              <a:buNone/>
            </a:pPr>
            <a:r>
              <a:rPr lang="en-US" sz="3600" b="1" dirty="0">
                <a:solidFill>
                  <a:srgbClr val="B5382C"/>
                </a:solidFill>
                <a:latin typeface="Playfair Display" pitchFamily="34" charset="0"/>
                <a:ea typeface="Playfair Display" pitchFamily="34" charset="-122"/>
                <a:cs typeface="Playfair Display" pitchFamily="34" charset="-120"/>
              </a:rPr>
              <a:t>BS</a:t>
            </a:r>
            <a:endParaRPr lang="en-US" sz="3600" dirty="0"/>
          </a:p>
        </p:txBody>
      </p:sp>
      <p:sp>
        <p:nvSpPr>
          <p:cNvPr id="4" name="Text 1"/>
          <p:cNvSpPr txBox="1"/>
          <p:nvPr/>
        </p:nvSpPr>
        <p:spPr>
          <a:xfrm>
            <a:off x="640080" y="3383280"/>
            <a:ext cx="7863840" cy="640080"/>
          </a:xfrm>
          <a:prstGeom prst="rect">
            <a:avLst/>
          </a:prstGeom>
          <a:noFill/>
          <a:ln/>
        </p:spPr>
        <p:txBody>
          <a:bodyPr wrap="square" lIns="0" tIns="0" rIns="0" bIns="0" rtlCol="0" anchor="ctr"/>
          <a:lstStyle/>
          <a:p>
            <a:pPr algn="ctr" indent="0" marL="0">
              <a:buNone/>
            </a:pPr>
            <a:r>
              <a:rPr lang="en-US" sz="2200" b="1" dirty="0">
                <a:solidFill>
                  <a:srgbClr val="1C1C1C"/>
                </a:solidFill>
                <a:latin typeface="Montserrat" pitchFamily="34" charset="0"/>
                <a:ea typeface="Montserrat" pitchFamily="34" charset="-122"/>
                <a:cs typeface="Montserrat" pitchFamily="34" charset="-120"/>
              </a:rPr>
              <a:t>Well. Six things.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ONE</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“Watch your breath.</a:t>
            </a:r>
            <a:endParaRPr lang="en-US" sz="4400" dirty="0"/>
          </a:p>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Don’t get distracted.”</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ONE</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“Watch your breath.</a:t>
            </a:r>
            <a:endParaRPr lang="en-US" sz="4400" dirty="0"/>
          </a:p>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Don’t get distracted.”</a:t>
            </a:r>
            <a:endParaRPr lang="en-US" sz="4400" dirty="0"/>
          </a:p>
        </p:txBody>
      </p:sp>
      <p:sp>
        <p:nvSpPr>
          <p:cNvPr id="5" name="Text 2"/>
          <p:cNvSpPr txBox="1"/>
          <p:nvPr/>
        </p:nvSpPr>
        <p:spPr>
          <a:xfrm>
            <a:off x="640080" y="3520440"/>
            <a:ext cx="7863840" cy="640080"/>
          </a:xfrm>
          <a:prstGeom prst="rect">
            <a:avLst/>
          </a:prstGeom>
          <a:noFill/>
          <a:ln/>
        </p:spPr>
        <p:txBody>
          <a:bodyPr wrap="square" lIns="0" tIns="0" rIns="0" bIns="0" rtlCol="0" anchor="ctr"/>
          <a:lstStyle/>
          <a:p>
            <a:pPr algn="ctr" indent="0" marL="0">
              <a:buNone/>
            </a:pPr>
            <a:r>
              <a:rPr lang="en-US" sz="2200" b="1" dirty="0">
                <a:solidFill>
                  <a:srgbClr val="B5382C"/>
                </a:solidFill>
                <a:latin typeface="Montserrat" pitchFamily="34" charset="0"/>
                <a:ea typeface="Montserrat" pitchFamily="34" charset="-122"/>
                <a:cs typeface="Montserrat" pitchFamily="34" charset="-120"/>
              </a:rPr>
              <a:t>A copy of a copy.</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TWO</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“Bored? Your mind is weak.</a:t>
            </a:r>
            <a:endParaRPr lang="en-US" sz="4400" dirty="0"/>
          </a:p>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Keep going.”</a:t>
            </a:r>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TWO</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“Bored? Your mind is weak.</a:t>
            </a:r>
            <a:endParaRPr lang="en-US" sz="4400" dirty="0"/>
          </a:p>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Keep going.”</a:t>
            </a:r>
            <a:endParaRPr lang="en-US" sz="4400" dirty="0"/>
          </a:p>
        </p:txBody>
      </p:sp>
      <p:sp>
        <p:nvSpPr>
          <p:cNvPr id="5" name="Text 2"/>
          <p:cNvSpPr txBox="1"/>
          <p:nvPr/>
        </p:nvSpPr>
        <p:spPr>
          <a:xfrm>
            <a:off x="640080" y="3520440"/>
            <a:ext cx="7863840" cy="640080"/>
          </a:xfrm>
          <a:prstGeom prst="rect">
            <a:avLst/>
          </a:prstGeom>
          <a:noFill/>
          <a:ln/>
        </p:spPr>
        <p:txBody>
          <a:bodyPr wrap="square" lIns="0" tIns="0" rIns="0" bIns="0" rtlCol="0" anchor="ctr"/>
          <a:lstStyle/>
          <a:p>
            <a:pPr algn="ctr" indent="0" marL="0">
              <a:buNone/>
            </a:pPr>
            <a:r>
              <a:rPr lang="en-US" sz="2200" b="1" dirty="0">
                <a:solidFill>
                  <a:srgbClr val="B5382C"/>
                </a:solidFill>
                <a:latin typeface="Montserrat" pitchFamily="34" charset="0"/>
                <a:ea typeface="Montserrat" pitchFamily="34" charset="-122"/>
                <a:cs typeface="Montserrat" pitchFamily="34" charset="-120"/>
              </a:rPr>
              <a:t>Wrong practice. Right now.</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THREE</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“ADHD means you can’t focus.”</a:t>
            </a: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THREE</a:t>
            </a:r>
            <a:endParaRPr lang="en-US" sz="1100" dirty="0"/>
          </a:p>
        </p:txBody>
      </p:sp>
      <p:sp>
        <p:nvSpPr>
          <p:cNvPr id="4" name="Text 1"/>
          <p:cNvSpPr txBox="1"/>
          <p:nvPr/>
        </p:nvSpPr>
        <p:spPr>
          <a:xfrm>
            <a:off x="640080" y="868680"/>
            <a:ext cx="7863840" cy="1097280"/>
          </a:xfrm>
          <a:prstGeom prst="rect">
            <a:avLst/>
          </a:prstGeom>
          <a:noFill/>
          <a:ln/>
        </p:spPr>
        <p:txBody>
          <a:bodyPr wrap="square" lIns="0" tIns="0" rIns="0" bIns="0" rtlCol="0" anchor="ctr"/>
          <a:lstStyle/>
          <a:p>
            <a:pPr algn="ctr" indent="0" marL="0">
              <a:lnSpc>
                <a:spcPct val="105000"/>
              </a:lnSpc>
              <a:buNone/>
            </a:pPr>
            <a:r>
              <a:rPr lang="en-US" sz="3600" b="1" dirty="0">
                <a:solidFill>
                  <a:srgbClr val="1C1C1C"/>
                </a:solidFill>
                <a:latin typeface="Playfair Display" pitchFamily="34" charset="0"/>
                <a:ea typeface="Playfair Display" pitchFamily="34" charset="-122"/>
                <a:cs typeface="Playfair Display" pitchFamily="34" charset="-120"/>
              </a:rPr>
              <a:t>“ADHD means you can’t focus.”</a:t>
            </a:r>
            <a:endParaRPr lang="en-US" sz="3600" dirty="0"/>
          </a:p>
        </p:txBody>
      </p:sp>
      <p:sp>
        <p:nvSpPr>
          <p:cNvPr id="5" name="Shape 2"/>
          <p:cNvSpPr/>
          <p:nvPr/>
        </p:nvSpPr>
        <p:spPr>
          <a:xfrm>
            <a:off x="3063240" y="2331720"/>
            <a:ext cx="1188720" cy="1188720"/>
          </a:xfrm>
          <a:prstGeom prst="ellipse">
            <a:avLst/>
          </a:prstGeom>
          <a:ln w="31750">
            <a:solidFill>
              <a:srgbClr val="1C1C1C"/>
            </a:solidFill>
            <a:prstDash val="solid"/>
          </a:ln>
        </p:spPr>
      </p:sp>
      <p:sp>
        <p:nvSpPr>
          <p:cNvPr id="6" name="Shape 3"/>
          <p:cNvSpPr/>
          <p:nvPr/>
        </p:nvSpPr>
        <p:spPr>
          <a:xfrm>
            <a:off x="3520440" y="2788920"/>
            <a:ext cx="274320" cy="274320"/>
          </a:xfrm>
          <a:prstGeom prst="ellipse">
            <a:avLst/>
          </a:prstGeom>
          <a:solidFill>
            <a:srgbClr val="1C1C1C"/>
          </a:solidFill>
          <a:ln w="12700">
            <a:solidFill>
              <a:srgbClr val="1C1C1C"/>
            </a:solidFill>
            <a:prstDash val="solid"/>
          </a:ln>
        </p:spPr>
      </p:sp>
      <p:sp>
        <p:nvSpPr>
          <p:cNvPr id="7" name="Shape 4"/>
          <p:cNvSpPr/>
          <p:nvPr/>
        </p:nvSpPr>
        <p:spPr>
          <a:xfrm>
            <a:off x="4892040" y="2331720"/>
            <a:ext cx="1188720" cy="1188720"/>
          </a:xfrm>
          <a:prstGeom prst="ellipse">
            <a:avLst/>
          </a:prstGeom>
          <a:ln w="31750">
            <a:solidFill>
              <a:srgbClr val="1C1C1C"/>
            </a:solidFill>
            <a:prstDash val="solid"/>
          </a:ln>
        </p:spPr>
      </p:sp>
      <p:sp>
        <p:nvSpPr>
          <p:cNvPr id="8" name="Shape 5"/>
          <p:cNvSpPr/>
          <p:nvPr/>
        </p:nvSpPr>
        <p:spPr>
          <a:xfrm>
            <a:off x="5001768" y="2441448"/>
            <a:ext cx="969264" cy="969264"/>
          </a:xfrm>
          <a:prstGeom prst="ellipse">
            <a:avLst/>
          </a:prstGeom>
          <a:solidFill>
            <a:srgbClr val="B5382C"/>
          </a:solidFill>
          <a:ln w="12700">
            <a:solidFill>
              <a:srgbClr val="B5382C"/>
            </a:solidFill>
            <a:prstDash val="solid"/>
          </a:ln>
        </p:spPr>
      </p:sp>
      <p:sp>
        <p:nvSpPr>
          <p:cNvPr id="9" name="Text 6"/>
          <p:cNvSpPr txBox="1"/>
          <p:nvPr/>
        </p:nvSpPr>
        <p:spPr>
          <a:xfrm>
            <a:off x="2377440" y="3611880"/>
            <a:ext cx="2560320" cy="274320"/>
          </a:xfrm>
          <a:prstGeom prst="rect">
            <a:avLst/>
          </a:prstGeom>
          <a:noFill/>
          <a:ln/>
        </p:spPr>
        <p:txBody>
          <a:bodyPr wrap="square" lIns="0" tIns="0" rIns="0" bIns="0" rtlCol="0" anchor="ctr"/>
          <a:lstStyle/>
          <a:p>
            <a:pPr algn="ctr" indent="0" marL="0">
              <a:buNone/>
            </a:pPr>
            <a:r>
              <a:rPr lang="en-US" sz="1000" b="1" spc="300" kern="0" dirty="0">
                <a:solidFill>
                  <a:srgbClr val="8A857C"/>
                </a:solidFill>
                <a:latin typeface="Montserrat" pitchFamily="34" charset="0"/>
                <a:ea typeface="Montserrat" pitchFamily="34" charset="-122"/>
                <a:cs typeface="Montserrat" pitchFamily="34" charset="-120"/>
              </a:rPr>
              <a:t>MOST BRAINS</a:t>
            </a:r>
            <a:endParaRPr lang="en-US" sz="1000" dirty="0"/>
          </a:p>
        </p:txBody>
      </p:sp>
      <p:sp>
        <p:nvSpPr>
          <p:cNvPr id="10" name="Text 7"/>
          <p:cNvSpPr txBox="1"/>
          <p:nvPr/>
        </p:nvSpPr>
        <p:spPr>
          <a:xfrm>
            <a:off x="4206240" y="3611880"/>
            <a:ext cx="2560320" cy="274320"/>
          </a:xfrm>
          <a:prstGeom prst="rect">
            <a:avLst/>
          </a:prstGeom>
          <a:noFill/>
          <a:ln/>
        </p:spPr>
        <p:txBody>
          <a:bodyPr wrap="square" lIns="0" tIns="0" rIns="0" bIns="0" rtlCol="0" anchor="ctr"/>
          <a:lstStyle/>
          <a:p>
            <a:pPr algn="ctr" indent="0" marL="0">
              <a:buNone/>
            </a:pPr>
            <a:r>
              <a:rPr lang="en-US" sz="1000" b="1" spc="300" kern="0" dirty="0">
                <a:solidFill>
                  <a:srgbClr val="8A857C"/>
                </a:solidFill>
                <a:latin typeface="Montserrat" pitchFamily="34" charset="0"/>
                <a:ea typeface="Montserrat" pitchFamily="34" charset="-122"/>
                <a:cs typeface="Montserrat" pitchFamily="34" charset="-120"/>
              </a:rPr>
              <a:t>YOURS</a:t>
            </a:r>
            <a:endParaRPr lang="en-US" sz="1000" dirty="0"/>
          </a:p>
        </p:txBody>
      </p:sp>
      <p:sp>
        <p:nvSpPr>
          <p:cNvPr id="11" name="Text 8"/>
          <p:cNvSpPr txBox="1"/>
          <p:nvPr/>
        </p:nvSpPr>
        <p:spPr>
          <a:xfrm>
            <a:off x="640080" y="4069080"/>
            <a:ext cx="7863840" cy="640080"/>
          </a:xfrm>
          <a:prstGeom prst="rect">
            <a:avLst/>
          </a:prstGeom>
          <a:noFill/>
          <a:ln/>
        </p:spPr>
        <p:txBody>
          <a:bodyPr wrap="square" lIns="0" tIns="0" rIns="0" bIns="0" rtlCol="0" anchor="ctr"/>
          <a:lstStyle/>
          <a:p>
            <a:pPr algn="ctr" indent="0" marL="0">
              <a:buNone/>
            </a:pPr>
            <a:r>
              <a:rPr lang="en-US" sz="2200" b="1" dirty="0">
                <a:solidFill>
                  <a:srgbClr val="B5382C"/>
                </a:solidFill>
                <a:latin typeface="Montserrat" pitchFamily="34" charset="0"/>
                <a:ea typeface="Montserrat" pitchFamily="34" charset="-122"/>
                <a:cs typeface="Montserrat" pitchFamily="34" charset="-120"/>
              </a:rPr>
              <a:t>Wider aperture. No steering wheel.</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FOUR</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“A good meditator has</a:t>
            </a:r>
            <a:endParaRPr lang="en-US" sz="4400" dirty="0"/>
          </a:p>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a still, empty mind.”</a:t>
            </a:r>
            <a:endParaRPr lang="en-US" sz="4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FOUR</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“A good meditator has</a:t>
            </a:r>
            <a:endParaRPr lang="en-US" sz="4400" dirty="0"/>
          </a:p>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a still, empty mind.”</a:t>
            </a:r>
            <a:endParaRPr lang="en-US" sz="4400" dirty="0"/>
          </a:p>
        </p:txBody>
      </p:sp>
      <p:sp>
        <p:nvSpPr>
          <p:cNvPr id="5" name="Text 2"/>
          <p:cNvSpPr txBox="1"/>
          <p:nvPr/>
        </p:nvSpPr>
        <p:spPr>
          <a:xfrm>
            <a:off x="640080" y="3520440"/>
            <a:ext cx="7863840" cy="640080"/>
          </a:xfrm>
          <a:prstGeom prst="rect">
            <a:avLst/>
          </a:prstGeom>
          <a:noFill/>
          <a:ln/>
        </p:spPr>
        <p:txBody>
          <a:bodyPr wrap="square" lIns="0" tIns="0" rIns="0" bIns="0" rtlCol="0" anchor="ctr"/>
          <a:lstStyle/>
          <a:p>
            <a:pPr algn="ctr" indent="0" marL="0">
              <a:buNone/>
            </a:pPr>
            <a:r>
              <a:rPr lang="en-US" sz="2200" b="1" dirty="0">
                <a:solidFill>
                  <a:srgbClr val="B5382C"/>
                </a:solidFill>
                <a:latin typeface="Montserrat" pitchFamily="34" charset="0"/>
                <a:ea typeface="Montserrat" pitchFamily="34" charset="-122"/>
                <a:cs typeface="Montserrat" pitchFamily="34" charset="-120"/>
              </a:rPr>
              <a:t>Exploring. Layer under layer.</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THE SAME TWO TRAITS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7680960" cy="914400"/>
        </p:xfrm>
        <a:graphic>
          <a:graphicData uri="http://schemas.openxmlformats.org/drawingml/2006/table">
            <a:tbl>
              <a:tblPr/>
              <a:tblGrid>
                <a:gridCol w="2743200"/>
                <a:gridCol w="2468880"/>
                <a:gridCol w="2468880"/>
              </a:tblGrid>
              <a:tr h="502920">
                <a:tc>
                  <a:txBody>
                    <a:bodyPr/>
                    <a:lstStyle/>
                    <a:p>
                      <a:pPr indent="0" marL="0">
                        <a:buNone/>
                      </a:pPr>
                      <a:endParaRPr lang="en-US" sz="1100" dirty="0">
                        <a:latin typeface="Montserrat" charset="0"/>
                        <a:ea typeface="Montserrat" charset="0"/>
                        <a:cs typeface="Montserrat" charset="0"/>
                      </a:endParaRPr>
                    </a:p>
                  </a:txBody>
                  <a:tcPr marL="127000" marR="127000" marT="101600" marB="101600">
                    <a:lnL w="0" cap="flat" cmpd="sng" algn="ctr">
                      <a:noFill/>
                    </a:lnL>
                    <a:lnR w="0" cap="flat" cmpd="sng" algn="ctr">
                      <a:noFill/>
                    </a:lnR>
                    <a:lnT w="0" cap="flat" cmpd="sng" algn="ctr">
                      <a:noFill/>
                    </a:lnT>
                    <a:lnB w="19050" cap="flat" cmpd="sng" algn="ctr">
                      <a:solidFill>
                        <a:srgbClr val="1C1C1C"/>
                      </a:solidFill>
                      <a:prstDash val="solid"/>
                      <a:round/>
                      <a:headEnd type="none" w="med" len="med"/>
                      <a:tailEnd type="none" w="med" len="med"/>
                    </a:lnB>
                    <a:solidFill>
                      <a:srgbClr val="F4F1EA"/>
                    </a:solidFill>
                  </a:tcPr>
                </a:tc>
                <a:tc>
                  <a:txBody>
                    <a:bodyPr/>
                    <a:lstStyle/>
                    <a:p>
                      <a:pPr indent="0" marL="0">
                        <a:buNone/>
                      </a:pPr>
                      <a:r>
                        <a:rPr lang="en-US" sz="1100" b="1" spc="300" kern="0" dirty="0">
                          <a:solidFill>
                            <a:srgbClr val="8A857C"/>
                          </a:solidFill>
                          <a:latin typeface="Montserrat" pitchFamily="34" charset="0"/>
                          <a:ea typeface="Montserrat" pitchFamily="34" charset="-122"/>
                          <a:cs typeface="Montserrat" pitchFamily="34" charset="-120"/>
                        </a:rPr>
                        <a:t>BREATH-WATCHING</a:t>
                      </a:r>
                      <a:endParaRPr lang="en-US" sz="1100" dirty="0">
                        <a:latin typeface="Montserrat" charset="0"/>
                        <a:ea typeface="Montserrat" charset="0"/>
                        <a:cs typeface="Montserrat" charset="0"/>
                      </a:endParaRPr>
                    </a:p>
                  </a:txBody>
                  <a:tcPr marL="127000" marR="127000" marT="101600" marB="101600">
                    <a:lnL w="0" cap="flat" cmpd="sng" algn="ctr">
                      <a:noFill/>
                    </a:lnL>
                    <a:lnR w="0" cap="flat" cmpd="sng" algn="ctr">
                      <a:noFill/>
                    </a:lnR>
                    <a:lnT w="0" cap="flat" cmpd="sng" algn="ctr">
                      <a:noFill/>
                    </a:lnT>
                    <a:lnB w="19050" cap="flat" cmpd="sng" algn="ctr">
                      <a:solidFill>
                        <a:srgbClr val="1C1C1C"/>
                      </a:solidFill>
                      <a:prstDash val="solid"/>
                      <a:round/>
                      <a:headEnd type="none" w="med" len="med"/>
                      <a:tailEnd type="none" w="med" len="med"/>
                    </a:lnB>
                    <a:solidFill>
                      <a:srgbClr val="F4F1EA"/>
                    </a:solidFill>
                  </a:tcPr>
                </a:tc>
                <a:tc>
                  <a:txBody>
                    <a:bodyPr/>
                    <a:lstStyle/>
                    <a:p>
                      <a:pPr indent="0" marL="0">
                        <a:buNone/>
                      </a:pPr>
                      <a:r>
                        <a:rPr lang="en-US" sz="1100" b="1" spc="300" kern="0" dirty="0">
                          <a:solidFill>
                            <a:srgbClr val="8A857C"/>
                          </a:solidFill>
                          <a:latin typeface="Montserrat" pitchFamily="34" charset="0"/>
                          <a:ea typeface="Montserrat" pitchFamily="34" charset="-122"/>
                          <a:cs typeface="Montserrat" pitchFamily="34" charset="-120"/>
                        </a:rPr>
                        <a:t>EXPLORING</a:t>
                      </a:r>
                      <a:endParaRPr lang="en-US" sz="1100" dirty="0">
                        <a:latin typeface="Montserrat" charset="0"/>
                        <a:ea typeface="Montserrat" charset="0"/>
                        <a:cs typeface="Montserrat" charset="0"/>
                      </a:endParaRPr>
                    </a:p>
                  </a:txBody>
                  <a:tcPr marL="127000" marR="127000" marT="101600" marB="101600">
                    <a:lnL w="0" cap="flat" cmpd="sng" algn="ctr">
                      <a:noFill/>
                    </a:lnL>
                    <a:lnR w="0" cap="flat" cmpd="sng" algn="ctr">
                      <a:noFill/>
                    </a:lnR>
                    <a:lnT w="0" cap="flat" cmpd="sng" algn="ctr">
                      <a:noFill/>
                    </a:lnT>
                    <a:lnB w="19050" cap="flat" cmpd="sng" algn="ctr">
                      <a:solidFill>
                        <a:srgbClr val="1C1C1C"/>
                      </a:solidFill>
                      <a:prstDash val="solid"/>
                      <a:round/>
                      <a:headEnd type="none" w="med" len="med"/>
                      <a:tailEnd type="none" w="med" len="med"/>
                    </a:lnB>
                    <a:solidFill>
                      <a:srgbClr val="F4F1EA"/>
                    </a:solidFill>
                  </a:tcPr>
                </a:tc>
              </a:tr>
              <a:tr h="960120">
                <a:tc>
                  <a:txBody>
                    <a:bodyPr/>
                    <a:lstStyle/>
                    <a:p>
                      <a:pPr indent="0" marL="0">
                        <a:buNone/>
                      </a:pPr>
                      <a:r>
                        <a:rPr lang="en-US" sz="2000" b="1" dirty="0">
                          <a:solidFill>
                            <a:srgbClr val="1C1C1C"/>
                          </a:solidFill>
                          <a:latin typeface="Playfair Display" pitchFamily="34" charset="0"/>
                          <a:ea typeface="Playfair Display" pitchFamily="34" charset="-122"/>
                          <a:cs typeface="Playfair Display" pitchFamily="34" charset="-120"/>
                        </a:rPr>
                        <a:t>Hunger for novelty</a:t>
                      </a:r>
                      <a:endParaRPr lang="en-US" sz="2000" dirty="0">
                        <a:latin typeface="Playfair Display" charset="0"/>
                        <a:ea typeface="Playfair Display" charset="0"/>
                        <a:cs typeface="Playfair Display" charset="0"/>
                      </a:endParaRPr>
                    </a:p>
                  </a:txBody>
                  <a:tcPr marL="127000" marR="127000" marT="127000" marB="127000" anchor="ctr">
                    <a:lnL w="0" cap="flat" cmpd="sng" algn="ctr">
                      <a:noFill/>
                    </a:lnL>
                    <a:lnR w="0" cap="flat" cmpd="sng" algn="ctr">
                      <a:noFill/>
                    </a:lnR>
                    <a:lnT w="0" cap="flat" cmpd="sng" algn="ctr">
                      <a:noFill/>
                    </a:lnT>
                    <a:lnB w="9525" cap="flat" cmpd="sng" algn="ctr">
                      <a:solidFill>
                        <a:srgbClr val="D9D4CA"/>
                      </a:solidFill>
                      <a:prstDash val="solid"/>
                      <a:round/>
                      <a:headEnd type="none" w="med" len="med"/>
                      <a:tailEnd type="none" w="med" len="med"/>
                    </a:lnB>
                    <a:solidFill>
                      <a:srgbClr val="F4F1EA"/>
                    </a:solidFill>
                  </a:tcPr>
                </a:tc>
                <a:tc>
                  <a:txBody>
                    <a:bodyPr/>
                    <a:lstStyle/>
                    <a:p>
                      <a:pPr indent="0" marL="0">
                        <a:buNone/>
                      </a:pPr>
                      <a:r>
                        <a:rPr lang="en-US" sz="1800" dirty="0">
                          <a:solidFill>
                            <a:srgbClr val="8A857C"/>
                          </a:solidFill>
                          <a:latin typeface="Montserrat" pitchFamily="34" charset="0"/>
                          <a:ea typeface="Montserrat" pitchFamily="34" charset="-122"/>
                          <a:cs typeface="Montserrat" pitchFamily="34" charset="-120"/>
                        </a:rPr>
                        <a:t>gets bored</a:t>
                      </a:r>
                      <a:endParaRPr lang="en-US" sz="1800" dirty="0">
                        <a:latin typeface="Montserrat" charset="0"/>
                        <a:ea typeface="Montserrat" charset="0"/>
                        <a:cs typeface="Montserrat" charset="0"/>
                      </a:endParaRPr>
                    </a:p>
                  </a:txBody>
                  <a:tcPr marL="127000" marR="127000" marT="127000" marB="127000" anchor="ctr">
                    <a:lnL w="0" cap="flat" cmpd="sng" algn="ctr">
                      <a:noFill/>
                    </a:lnL>
                    <a:lnR w="0" cap="flat" cmpd="sng" algn="ctr">
                      <a:noFill/>
                    </a:lnR>
                    <a:lnT w="0" cap="flat" cmpd="sng" algn="ctr">
                      <a:noFill/>
                    </a:lnT>
                    <a:lnB w="9525" cap="flat" cmpd="sng" algn="ctr">
                      <a:solidFill>
                        <a:srgbClr val="D9D4CA"/>
                      </a:solidFill>
                      <a:prstDash val="solid"/>
                      <a:round/>
                      <a:headEnd type="none" w="med" len="med"/>
                      <a:tailEnd type="none" w="med" len="med"/>
                    </a:lnB>
                    <a:solidFill>
                      <a:srgbClr val="F4F1EA"/>
                    </a:solidFill>
                  </a:tcPr>
                </a:tc>
                <a:tc>
                  <a:txBody>
                    <a:bodyPr/>
                    <a:lstStyle/>
                    <a:p>
                      <a:pPr indent="0" marL="0">
                        <a:buNone/>
                      </a:pPr>
                      <a:r>
                        <a:rPr lang="en-US" sz="1800" b="1" dirty="0">
                          <a:solidFill>
                            <a:srgbClr val="B5382C"/>
                          </a:solidFill>
                          <a:latin typeface="Montserrat" pitchFamily="34" charset="0"/>
                          <a:ea typeface="Montserrat" pitchFamily="34" charset="-122"/>
                          <a:cs typeface="Montserrat" pitchFamily="34" charset="-120"/>
                        </a:rPr>
                        <a:t>every layer is new</a:t>
                      </a:r>
                      <a:endParaRPr lang="en-US" sz="1800" dirty="0">
                        <a:latin typeface="Montserrat" charset="0"/>
                        <a:ea typeface="Montserrat" charset="0"/>
                        <a:cs typeface="Montserrat" charset="0"/>
                      </a:endParaRPr>
                    </a:p>
                  </a:txBody>
                  <a:tcPr marL="127000" marR="127000" marT="127000" marB="127000" anchor="ctr">
                    <a:lnL w="0" cap="flat" cmpd="sng" algn="ctr">
                      <a:noFill/>
                    </a:lnL>
                    <a:lnR w="0" cap="flat" cmpd="sng" algn="ctr">
                      <a:noFill/>
                    </a:lnR>
                    <a:lnT w="0" cap="flat" cmpd="sng" algn="ctr">
                      <a:noFill/>
                    </a:lnT>
                    <a:lnB w="9525" cap="flat" cmpd="sng" algn="ctr">
                      <a:solidFill>
                        <a:srgbClr val="D9D4CA"/>
                      </a:solidFill>
                      <a:prstDash val="solid"/>
                      <a:round/>
                      <a:headEnd type="none" w="med" len="med"/>
                      <a:tailEnd type="none" w="med" len="med"/>
                    </a:lnB>
                    <a:solidFill>
                      <a:srgbClr val="F4F1EA"/>
                    </a:solidFill>
                  </a:tcPr>
                </a:tc>
              </a:tr>
              <a:tr h="960120">
                <a:tc>
                  <a:txBody>
                    <a:bodyPr/>
                    <a:lstStyle/>
                    <a:p>
                      <a:pPr indent="0" marL="0">
                        <a:buNone/>
                      </a:pPr>
                      <a:r>
                        <a:rPr lang="en-US" sz="2000" b="1" dirty="0">
                          <a:solidFill>
                            <a:srgbClr val="1C1C1C"/>
                          </a:solidFill>
                          <a:latin typeface="Playfair Display" pitchFamily="34" charset="0"/>
                          <a:ea typeface="Playfair Display" pitchFamily="34" charset="-122"/>
                          <a:cs typeface="Playfair Display" pitchFamily="34" charset="-120"/>
                        </a:rPr>
                        <a:t>Fine perception</a:t>
                      </a:r>
                      <a:endParaRPr lang="en-US" sz="2000" dirty="0">
                        <a:latin typeface="Playfair Display" charset="0"/>
                        <a:ea typeface="Playfair Display" charset="0"/>
                        <a:cs typeface="Playfair Display" charset="0"/>
                      </a:endParaRPr>
                    </a:p>
                  </a:txBody>
                  <a:tcPr marL="127000" marR="127000" marT="127000" marB="127000" anchor="ctr">
                    <a:lnL w="0" cap="flat" cmpd="sng" algn="ctr">
                      <a:noFill/>
                    </a:lnL>
                    <a:lnR w="0" cap="flat" cmpd="sng" algn="ctr">
                      <a:noFill/>
                    </a:lnR>
                    <a:lnT w="0" cap="flat" cmpd="sng" algn="ctr">
                      <a:noFill/>
                    </a:lnT>
                    <a:lnB w="9525" cap="flat" cmpd="sng" algn="ctr">
                      <a:solidFill>
                        <a:srgbClr val="D9D4CA"/>
                      </a:solidFill>
                      <a:prstDash val="solid"/>
                      <a:round/>
                      <a:headEnd type="none" w="med" len="med"/>
                      <a:tailEnd type="none" w="med" len="med"/>
                    </a:lnB>
                    <a:solidFill>
                      <a:srgbClr val="F4F1EA"/>
                    </a:solidFill>
                  </a:tcPr>
                </a:tc>
                <a:tc>
                  <a:txBody>
                    <a:bodyPr/>
                    <a:lstStyle/>
                    <a:p>
                      <a:pPr indent="0" marL="0">
                        <a:buNone/>
                      </a:pPr>
                      <a:r>
                        <a:rPr lang="en-US" sz="1800" dirty="0">
                          <a:solidFill>
                            <a:srgbClr val="8A857C"/>
                          </a:solidFill>
                          <a:latin typeface="Montserrat" pitchFamily="34" charset="0"/>
                          <a:ea typeface="Montserrat" pitchFamily="34" charset="-122"/>
                          <a:cs typeface="Montserrat" pitchFamily="34" charset="-120"/>
                        </a:rPr>
                        <a:t>gets distracted</a:t>
                      </a:r>
                      <a:endParaRPr lang="en-US" sz="1800" dirty="0">
                        <a:latin typeface="Montserrat" charset="0"/>
                        <a:ea typeface="Montserrat" charset="0"/>
                        <a:cs typeface="Montserrat" charset="0"/>
                      </a:endParaRPr>
                    </a:p>
                  </a:txBody>
                  <a:tcPr marL="127000" marR="127000" marT="127000" marB="127000" anchor="ctr">
                    <a:lnL w="0" cap="flat" cmpd="sng" algn="ctr">
                      <a:noFill/>
                    </a:lnL>
                    <a:lnR w="0" cap="flat" cmpd="sng" algn="ctr">
                      <a:noFill/>
                    </a:lnR>
                    <a:lnT w="0" cap="flat" cmpd="sng" algn="ctr">
                      <a:noFill/>
                    </a:lnT>
                    <a:lnB w="9525" cap="flat" cmpd="sng" algn="ctr">
                      <a:solidFill>
                        <a:srgbClr val="D9D4CA"/>
                      </a:solidFill>
                      <a:prstDash val="solid"/>
                      <a:round/>
                      <a:headEnd type="none" w="med" len="med"/>
                      <a:tailEnd type="none" w="med" len="med"/>
                    </a:lnB>
                    <a:solidFill>
                      <a:srgbClr val="F4F1EA"/>
                    </a:solidFill>
                  </a:tcPr>
                </a:tc>
                <a:tc>
                  <a:txBody>
                    <a:bodyPr/>
                    <a:lstStyle/>
                    <a:p>
                      <a:pPr indent="0" marL="0">
                        <a:buNone/>
                      </a:pPr>
                      <a:r>
                        <a:rPr lang="en-US" sz="1800" b="1" dirty="0">
                          <a:solidFill>
                            <a:srgbClr val="B5382C"/>
                          </a:solidFill>
                          <a:latin typeface="Montserrat" pitchFamily="34" charset="0"/>
                          <a:ea typeface="Montserrat" pitchFamily="34" charset="-122"/>
                          <a:cs typeface="Montserrat" pitchFamily="34" charset="-120"/>
                        </a:rPr>
                        <a:t>notices the next layer</a:t>
                      </a:r>
                      <a:endParaRPr lang="en-US" sz="1800" dirty="0">
                        <a:latin typeface="Montserrat" charset="0"/>
                        <a:ea typeface="Montserrat" charset="0"/>
                        <a:cs typeface="Montserrat" charset="0"/>
                      </a:endParaRPr>
                    </a:p>
                  </a:txBody>
                  <a:tcPr marL="127000" marR="127000" marT="127000" marB="127000" anchor="ctr">
                    <a:lnL w="0" cap="flat" cmpd="sng" algn="ctr">
                      <a:noFill/>
                    </a:lnL>
                    <a:lnR w="0" cap="flat" cmpd="sng" algn="ctr">
                      <a:noFill/>
                    </a:lnR>
                    <a:lnT w="0" cap="flat" cmpd="sng" algn="ctr">
                      <a:noFill/>
                    </a:lnT>
                    <a:lnB w="9525" cap="flat" cmpd="sng" algn="ctr">
                      <a:solidFill>
                        <a:srgbClr val="D9D4CA"/>
                      </a:solidFill>
                      <a:prstDash val="solid"/>
                      <a:round/>
                      <a:headEnd type="none" w="med" len="med"/>
                      <a:tailEnd type="none" w="med" len="med"/>
                    </a:lnB>
                    <a:solidFill>
                      <a:srgbClr val="F4F1E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FIVE</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“I have too many thoughts.</a:t>
            </a:r>
            <a:endParaRPr lang="en-US" sz="4000" dirty="0"/>
          </a:p>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I’m doing it wrong.”</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FIVE</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“I have too many thoughts.</a:t>
            </a:r>
            <a:endParaRPr lang="en-US" sz="4000" dirty="0"/>
          </a:p>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I’m doing it wrong.”</a:t>
            </a:r>
            <a:endParaRPr lang="en-US" sz="4000" dirty="0"/>
          </a:p>
        </p:txBody>
      </p:sp>
      <p:sp>
        <p:nvSpPr>
          <p:cNvPr id="5" name="Text 2"/>
          <p:cNvSpPr txBox="1"/>
          <p:nvPr/>
        </p:nvSpPr>
        <p:spPr>
          <a:xfrm>
            <a:off x="640080" y="3520440"/>
            <a:ext cx="7863840" cy="640080"/>
          </a:xfrm>
          <a:prstGeom prst="rect">
            <a:avLst/>
          </a:prstGeom>
          <a:noFill/>
          <a:ln/>
        </p:spPr>
        <p:txBody>
          <a:bodyPr wrap="square" lIns="0" tIns="0" rIns="0" bIns="0" rtlCol="0" anchor="ctr"/>
          <a:lstStyle/>
          <a:p>
            <a:pPr algn="ctr" indent="0" marL="0">
              <a:buNone/>
            </a:pPr>
            <a:r>
              <a:rPr lang="en-US" sz="2200" b="1" dirty="0">
                <a:solidFill>
                  <a:srgbClr val="B5382C"/>
                </a:solidFill>
                <a:latin typeface="Montserrat" pitchFamily="34" charset="0"/>
                <a:ea typeface="Montserrat" pitchFamily="34" charset="-122"/>
                <a:cs typeface="Montserrat" pitchFamily="34" charset="-120"/>
              </a:rPr>
              <a:t>Thoughts are the tension leaving. Notice, return.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SIX</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“Meditation is the point.</a:t>
            </a:r>
            <a:endParaRPr lang="en-US" sz="4000" dirty="0"/>
          </a:p>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Meditate more and it comes.”</a:t>
            </a:r>
            <a:endParaRPr lang="en-US" sz="4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457200"/>
            <a:ext cx="7863840" cy="320040"/>
          </a:xfrm>
          <a:prstGeom prst="rect">
            <a:avLst/>
          </a:prstGeom>
          <a:noFill/>
          <a:ln/>
        </p:spPr>
        <p:txBody>
          <a:bodyPr wrap="square" lIns="0" tIns="0" rIns="0" bIns="0" rtlCol="0" anchor="ctr"/>
          <a:lstStyle/>
          <a:p>
            <a:pPr algn="ctr" indent="0" marL="0">
              <a:buNone/>
            </a:pPr>
            <a:r>
              <a:rPr lang="en-US" sz="1100" b="1" spc="400" kern="0" dirty="0">
                <a:solidFill>
                  <a:srgbClr val="8A857C"/>
                </a:solidFill>
                <a:latin typeface="Montserrat" pitchFamily="34" charset="0"/>
                <a:ea typeface="Montserrat" pitchFamily="34" charset="-122"/>
                <a:cs typeface="Montserrat" pitchFamily="34" charset="-120"/>
              </a:rPr>
              <a:t>MYTH SIX</a:t>
            </a:r>
            <a:endParaRPr lang="en-US" sz="1100" dirty="0"/>
          </a:p>
        </p:txBody>
      </p:sp>
      <p:sp>
        <p:nvSpPr>
          <p:cNvPr id="4" name="Text 1"/>
          <p:cNvSpPr txBox="1"/>
          <p:nvPr/>
        </p:nvSpPr>
        <p:spPr>
          <a:xfrm>
            <a:off x="640080" y="1051560"/>
            <a:ext cx="7863840" cy="2194560"/>
          </a:xfrm>
          <a:prstGeom prst="rect">
            <a:avLst/>
          </a:prstGeom>
          <a:noFill/>
          <a:ln/>
        </p:spPr>
        <p:txBody>
          <a:bodyPr wrap="square" lIns="0" tIns="0" rIns="0" bIns="0" rtlCol="0" anchor="ctr"/>
          <a:lstStyle/>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“Meditation is the point.</a:t>
            </a:r>
            <a:endParaRPr lang="en-US" sz="4000" dirty="0"/>
          </a:p>
          <a:p>
            <a:pPr algn="ctr" indent="0" marL="0">
              <a:lnSpc>
                <a:spcPct val="105000"/>
              </a:lnSpc>
              <a:buNone/>
            </a:pPr>
            <a:r>
              <a:rPr lang="en-US" sz="4000" b="1" dirty="0">
                <a:solidFill>
                  <a:srgbClr val="1C1C1C"/>
                </a:solidFill>
                <a:latin typeface="Playfair Display" pitchFamily="34" charset="0"/>
                <a:ea typeface="Playfair Display" pitchFamily="34" charset="-122"/>
                <a:cs typeface="Playfair Display" pitchFamily="34" charset="-120"/>
              </a:rPr>
              <a:t>Meditate more and it comes.”</a:t>
            </a:r>
            <a:endParaRPr lang="en-US" sz="4000" dirty="0"/>
          </a:p>
        </p:txBody>
      </p:sp>
      <p:sp>
        <p:nvSpPr>
          <p:cNvPr id="5" name="Text 2"/>
          <p:cNvSpPr txBox="1"/>
          <p:nvPr/>
        </p:nvSpPr>
        <p:spPr>
          <a:xfrm>
            <a:off x="640080" y="3520440"/>
            <a:ext cx="7863840" cy="640080"/>
          </a:xfrm>
          <a:prstGeom prst="rect">
            <a:avLst/>
          </a:prstGeom>
          <a:noFill/>
          <a:ln/>
        </p:spPr>
        <p:txBody>
          <a:bodyPr wrap="square" lIns="0" tIns="0" rIns="0" bIns="0" rtlCol="0" anchor="ctr"/>
          <a:lstStyle/>
          <a:p>
            <a:pPr algn="ctr" indent="0" marL="0">
              <a:buNone/>
            </a:pPr>
            <a:r>
              <a:rPr lang="en-US" sz="2200" b="1" dirty="0">
                <a:solidFill>
                  <a:srgbClr val="B5382C"/>
                </a:solidFill>
                <a:latin typeface="Montserrat" pitchFamily="34" charset="0"/>
                <a:ea typeface="Montserrat" pitchFamily="34" charset="-122"/>
                <a:cs typeface="Montserrat" pitchFamily="34" charset="-120"/>
              </a:rPr>
              <a:t>Meditation is a tool. Development is the goal.</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1097280"/>
            <a:ext cx="7863840" cy="219456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Find one thing you hadn’t noticed before.</a:t>
            </a:r>
            <a:endParaRPr lang="en-US" sz="4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1097280"/>
            <a:ext cx="7863840" cy="2194560"/>
          </a:xfrm>
          <a:prstGeom prst="rect">
            <a:avLst/>
          </a:prstGeom>
          <a:noFill/>
          <a:ln/>
        </p:spPr>
        <p:txBody>
          <a:bodyPr wrap="square" lIns="0" tIns="0" rIns="0" bIns="0" rtlCol="0" anchor="ctr"/>
          <a:lstStyle/>
          <a:p>
            <a:pPr algn="ctr" indent="0" marL="0">
              <a:lnSpc>
                <a:spcPct val="105000"/>
              </a:lnSpc>
              <a:buNone/>
            </a:pPr>
            <a:r>
              <a:rPr lang="en-US" sz="5400" b="1" dirty="0">
                <a:solidFill>
                  <a:srgbClr val="C9C3B6"/>
                </a:solidFill>
                <a:latin typeface="Playfair Display" pitchFamily="34" charset="0"/>
                <a:ea typeface="Playfair Display" pitchFamily="34" charset="-122"/>
                <a:cs typeface="Playfair Display" pitchFamily="34" charset="-120"/>
              </a:rPr>
              <a:t>Listen.</a:t>
            </a:r>
            <a:endParaRPr lang="en-US" sz="5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1097280"/>
            <a:ext cx="7863840" cy="2194560"/>
          </a:xfrm>
          <a:prstGeom prst="rect">
            <a:avLst/>
          </a:prstGeom>
          <a:noFill/>
          <a:ln/>
        </p:spPr>
        <p:txBody>
          <a:bodyPr wrap="square" lIns="0" tIns="0" rIns="0" bIns="0" rtlCol="0" anchor="ctr"/>
          <a:lstStyle/>
          <a:p>
            <a:pPr algn="ctr" indent="0" marL="0">
              <a:lnSpc>
                <a:spcPct val="105000"/>
              </a:lnSpc>
              <a:buNone/>
            </a:pPr>
            <a:r>
              <a:rPr lang="en-US" sz="4800" b="1" dirty="0">
                <a:solidFill>
                  <a:srgbClr val="C9C3B6"/>
                </a:solidFill>
                <a:latin typeface="Playfair Display" pitchFamily="34" charset="0"/>
                <a:ea typeface="Playfair Display" pitchFamily="34" charset="-122"/>
                <a:cs typeface="Playfair Display" pitchFamily="34" charset="-120"/>
              </a:rPr>
              <a:t>Listen with the whole body.</a:t>
            </a:r>
            <a:endParaRPr lang="en-US" sz="4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1097280"/>
            <a:ext cx="7863840" cy="2194560"/>
          </a:xfrm>
          <a:prstGeom prst="rect">
            <a:avLst/>
          </a:prstGeom>
          <a:noFill/>
          <a:ln/>
        </p:spPr>
        <p:txBody>
          <a:bodyPr wrap="square" lIns="0" tIns="0" rIns="0" bIns="0" rtlCol="0" anchor="ctr"/>
          <a:lstStyle/>
          <a:p>
            <a:pPr algn="ctr" indent="0" marL="0">
              <a:lnSpc>
                <a:spcPct val="105000"/>
              </a:lnSpc>
              <a:buNone/>
            </a:pPr>
            <a:r>
              <a:rPr lang="en-US" sz="5400" b="1" dirty="0">
                <a:solidFill>
                  <a:srgbClr val="1C1C1C"/>
                </a:solidFill>
                <a:latin typeface="Playfair Display" pitchFamily="34" charset="0"/>
                <a:ea typeface="Playfair Display" pitchFamily="34" charset="-122"/>
                <a:cs typeface="Playfair Display" pitchFamily="34" charset="-120"/>
              </a:rPr>
              <a:t>What did you find?</a:t>
            </a:r>
            <a:endParaRPr lang="en-US" sz="5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457200" y="502920"/>
            <a:ext cx="3566160" cy="640080"/>
          </a:xfrm>
          <a:prstGeom prst="rect">
            <a:avLst/>
          </a:prstGeom>
          <a:noFill/>
          <a:ln/>
        </p:spPr>
        <p:txBody>
          <a:bodyPr wrap="square" lIns="0" tIns="0" rIns="0" bIns="0" rtlCol="0" anchor="ctr"/>
          <a:lstStyle/>
          <a:p>
            <a:pPr algn="r" indent="0" marL="0">
              <a:buNone/>
            </a:pPr>
            <a:r>
              <a:rPr lang="en-US" sz="2000" b="1" strike="sngStrike" dirty="0">
                <a:solidFill>
                  <a:srgbClr val="8A857C"/>
                </a:solidFill>
                <a:latin typeface="Playfair Display" pitchFamily="34" charset="0"/>
                <a:ea typeface="Playfair Display" pitchFamily="34" charset="-122"/>
                <a:cs typeface="Playfair Display" pitchFamily="34" charset="-120"/>
              </a:rPr>
              <a:t>Watch your breath.</a:t>
            </a:r>
            <a:endParaRPr lang="en-US" sz="2000" dirty="0"/>
          </a:p>
        </p:txBody>
      </p:sp>
      <p:sp>
        <p:nvSpPr>
          <p:cNvPr id="4" name="Text 1"/>
          <p:cNvSpPr txBox="1"/>
          <p:nvPr/>
        </p:nvSpPr>
        <p:spPr>
          <a:xfrm>
            <a:off x="4160520" y="502920"/>
            <a:ext cx="548640" cy="640080"/>
          </a:xfrm>
          <a:prstGeom prst="rect">
            <a:avLst/>
          </a:prstGeom>
          <a:noFill/>
          <a:ln/>
        </p:spPr>
        <p:txBody>
          <a:bodyPr wrap="square" lIns="0" tIns="0" rIns="0" bIns="0" rtlCol="0" anchor="ctr"/>
          <a:lstStyle/>
          <a:p>
            <a:pPr algn="ctr" indent="0" marL="0">
              <a:buNone/>
            </a:pPr>
            <a:r>
              <a:rPr lang="en-US" sz="1100" b="1" spc="300" kern="0" dirty="0">
                <a:solidFill>
                  <a:srgbClr val="B5382C"/>
                </a:solidFill>
                <a:latin typeface="Montserrat" pitchFamily="34" charset="0"/>
                <a:ea typeface="Montserrat" pitchFamily="34" charset="-122"/>
                <a:cs typeface="Montserrat" pitchFamily="34" charset="-120"/>
              </a:rPr>
              <a:t>NO</a:t>
            </a:r>
            <a:endParaRPr lang="en-US" sz="1100" dirty="0"/>
          </a:p>
        </p:txBody>
      </p:sp>
      <p:sp>
        <p:nvSpPr>
          <p:cNvPr id="5" name="Text 2"/>
          <p:cNvSpPr txBox="1"/>
          <p:nvPr/>
        </p:nvSpPr>
        <p:spPr>
          <a:xfrm>
            <a:off x="4846320" y="502920"/>
            <a:ext cx="3840480" cy="640080"/>
          </a:xfrm>
          <a:prstGeom prst="rect">
            <a:avLst/>
          </a:prstGeom>
          <a:noFill/>
          <a:ln/>
        </p:spPr>
        <p:txBody>
          <a:bodyPr wrap="square" lIns="0" tIns="0" rIns="0" bIns="0" rtlCol="0" anchor="ctr"/>
          <a:lstStyle/>
          <a:p>
            <a:pPr algn="l" indent="0" marL="0">
              <a:buNone/>
            </a:pPr>
            <a:r>
              <a:rPr lang="en-US" sz="1700" b="1" dirty="0">
                <a:solidFill>
                  <a:srgbClr val="1C1C1C"/>
                </a:solidFill>
                <a:latin typeface="Montserrat" pitchFamily="34" charset="0"/>
                <a:ea typeface="Montserrat" pitchFamily="34" charset="-122"/>
                <a:cs typeface="Montserrat" pitchFamily="34" charset="-120"/>
              </a:rPr>
              <a:t>The beginner’s drill.</a:t>
            </a:r>
            <a:endParaRPr lang="en-US" sz="1700" dirty="0"/>
          </a:p>
        </p:txBody>
      </p:sp>
      <p:sp>
        <p:nvSpPr>
          <p:cNvPr id="6" name="Text 3"/>
          <p:cNvSpPr txBox="1"/>
          <p:nvPr/>
        </p:nvSpPr>
        <p:spPr>
          <a:xfrm>
            <a:off x="457200" y="1234440"/>
            <a:ext cx="3566160" cy="640080"/>
          </a:xfrm>
          <a:prstGeom prst="rect">
            <a:avLst/>
          </a:prstGeom>
          <a:noFill/>
          <a:ln/>
        </p:spPr>
        <p:txBody>
          <a:bodyPr wrap="square" lIns="0" tIns="0" rIns="0" bIns="0" rtlCol="0" anchor="ctr"/>
          <a:lstStyle/>
          <a:p>
            <a:pPr algn="r" indent="0" marL="0">
              <a:buNone/>
            </a:pPr>
            <a:r>
              <a:rPr lang="en-US" sz="2000" b="1" strike="sngStrike" dirty="0">
                <a:solidFill>
                  <a:srgbClr val="8A857C"/>
                </a:solidFill>
                <a:latin typeface="Playfair Display" pitchFamily="34" charset="0"/>
                <a:ea typeface="Playfair Display" pitchFamily="34" charset="-122"/>
                <a:cs typeface="Playfair Display" pitchFamily="34" charset="-120"/>
              </a:rPr>
              <a:t>Bored means weak.</a:t>
            </a:r>
            <a:endParaRPr lang="en-US" sz="2000" dirty="0"/>
          </a:p>
        </p:txBody>
      </p:sp>
      <p:sp>
        <p:nvSpPr>
          <p:cNvPr id="7" name="Text 4"/>
          <p:cNvSpPr txBox="1"/>
          <p:nvPr/>
        </p:nvSpPr>
        <p:spPr>
          <a:xfrm>
            <a:off x="4160520" y="1234440"/>
            <a:ext cx="548640" cy="640080"/>
          </a:xfrm>
          <a:prstGeom prst="rect">
            <a:avLst/>
          </a:prstGeom>
          <a:noFill/>
          <a:ln/>
        </p:spPr>
        <p:txBody>
          <a:bodyPr wrap="square" lIns="0" tIns="0" rIns="0" bIns="0" rtlCol="0" anchor="ctr"/>
          <a:lstStyle/>
          <a:p>
            <a:pPr algn="ctr" indent="0" marL="0">
              <a:buNone/>
            </a:pPr>
            <a:r>
              <a:rPr lang="en-US" sz="1100" b="1" spc="300" kern="0" dirty="0">
                <a:solidFill>
                  <a:srgbClr val="B5382C"/>
                </a:solidFill>
                <a:latin typeface="Montserrat" pitchFamily="34" charset="0"/>
                <a:ea typeface="Montserrat" pitchFamily="34" charset="-122"/>
                <a:cs typeface="Montserrat" pitchFamily="34" charset="-120"/>
              </a:rPr>
              <a:t>NO</a:t>
            </a:r>
            <a:endParaRPr lang="en-US" sz="1100" dirty="0"/>
          </a:p>
        </p:txBody>
      </p:sp>
      <p:sp>
        <p:nvSpPr>
          <p:cNvPr id="8" name="Text 5"/>
          <p:cNvSpPr txBox="1"/>
          <p:nvPr/>
        </p:nvSpPr>
        <p:spPr>
          <a:xfrm>
            <a:off x="4846320" y="1234440"/>
            <a:ext cx="3840480" cy="640080"/>
          </a:xfrm>
          <a:prstGeom prst="rect">
            <a:avLst/>
          </a:prstGeom>
          <a:noFill/>
          <a:ln/>
        </p:spPr>
        <p:txBody>
          <a:bodyPr wrap="square" lIns="0" tIns="0" rIns="0" bIns="0" rtlCol="0" anchor="ctr"/>
          <a:lstStyle/>
          <a:p>
            <a:pPr algn="l" indent="0" marL="0">
              <a:buNone/>
            </a:pPr>
            <a:r>
              <a:rPr lang="en-US" sz="1700" b="1" dirty="0">
                <a:solidFill>
                  <a:srgbClr val="1C1C1C"/>
                </a:solidFill>
                <a:latin typeface="Montserrat" pitchFamily="34" charset="0"/>
                <a:ea typeface="Montserrat" pitchFamily="34" charset="-122"/>
                <a:cs typeface="Montserrat" pitchFamily="34" charset="-120"/>
              </a:rPr>
              <a:t>Wrong practice, right now.</a:t>
            </a:r>
            <a:endParaRPr lang="en-US" sz="1700" dirty="0"/>
          </a:p>
        </p:txBody>
      </p:sp>
      <p:sp>
        <p:nvSpPr>
          <p:cNvPr id="9" name="Text 6"/>
          <p:cNvSpPr txBox="1"/>
          <p:nvPr/>
        </p:nvSpPr>
        <p:spPr>
          <a:xfrm>
            <a:off x="457200" y="1965960"/>
            <a:ext cx="3566160" cy="640080"/>
          </a:xfrm>
          <a:prstGeom prst="rect">
            <a:avLst/>
          </a:prstGeom>
          <a:noFill/>
          <a:ln/>
        </p:spPr>
        <p:txBody>
          <a:bodyPr wrap="square" lIns="0" tIns="0" rIns="0" bIns="0" rtlCol="0" anchor="ctr"/>
          <a:lstStyle/>
          <a:p>
            <a:pPr algn="r" indent="0" marL="0">
              <a:buNone/>
            </a:pPr>
            <a:r>
              <a:rPr lang="en-US" sz="2000" b="1" strike="sngStrike" dirty="0">
                <a:solidFill>
                  <a:srgbClr val="8A857C"/>
                </a:solidFill>
                <a:latin typeface="Playfair Display" pitchFamily="34" charset="0"/>
                <a:ea typeface="Playfair Display" pitchFamily="34" charset="-122"/>
                <a:cs typeface="Playfair Display" pitchFamily="34" charset="-120"/>
              </a:rPr>
              <a:t>ADHD can’t focus.</a:t>
            </a:r>
            <a:endParaRPr lang="en-US" sz="2000" dirty="0"/>
          </a:p>
        </p:txBody>
      </p:sp>
      <p:sp>
        <p:nvSpPr>
          <p:cNvPr id="10" name="Text 7"/>
          <p:cNvSpPr txBox="1"/>
          <p:nvPr/>
        </p:nvSpPr>
        <p:spPr>
          <a:xfrm>
            <a:off x="4160520" y="1965960"/>
            <a:ext cx="548640" cy="640080"/>
          </a:xfrm>
          <a:prstGeom prst="rect">
            <a:avLst/>
          </a:prstGeom>
          <a:noFill/>
          <a:ln/>
        </p:spPr>
        <p:txBody>
          <a:bodyPr wrap="square" lIns="0" tIns="0" rIns="0" bIns="0" rtlCol="0" anchor="ctr"/>
          <a:lstStyle/>
          <a:p>
            <a:pPr algn="ctr" indent="0" marL="0">
              <a:buNone/>
            </a:pPr>
            <a:r>
              <a:rPr lang="en-US" sz="1100" b="1" spc="300" kern="0" dirty="0">
                <a:solidFill>
                  <a:srgbClr val="B5382C"/>
                </a:solidFill>
                <a:latin typeface="Montserrat" pitchFamily="34" charset="0"/>
                <a:ea typeface="Montserrat" pitchFamily="34" charset="-122"/>
                <a:cs typeface="Montserrat" pitchFamily="34" charset="-120"/>
              </a:rPr>
              <a:t>NO</a:t>
            </a:r>
            <a:endParaRPr lang="en-US" sz="1100" dirty="0"/>
          </a:p>
        </p:txBody>
      </p:sp>
      <p:sp>
        <p:nvSpPr>
          <p:cNvPr id="11" name="Text 8"/>
          <p:cNvSpPr txBox="1"/>
          <p:nvPr/>
        </p:nvSpPr>
        <p:spPr>
          <a:xfrm>
            <a:off x="4846320" y="1965960"/>
            <a:ext cx="3840480" cy="640080"/>
          </a:xfrm>
          <a:prstGeom prst="rect">
            <a:avLst/>
          </a:prstGeom>
          <a:noFill/>
          <a:ln/>
        </p:spPr>
        <p:txBody>
          <a:bodyPr wrap="square" lIns="0" tIns="0" rIns="0" bIns="0" rtlCol="0" anchor="ctr"/>
          <a:lstStyle/>
          <a:p>
            <a:pPr algn="l" indent="0" marL="0">
              <a:buNone/>
            </a:pPr>
            <a:r>
              <a:rPr lang="en-US" sz="1700" b="1" dirty="0">
                <a:solidFill>
                  <a:srgbClr val="1C1C1C"/>
                </a:solidFill>
                <a:latin typeface="Montserrat" pitchFamily="34" charset="0"/>
                <a:ea typeface="Montserrat" pitchFamily="34" charset="-122"/>
                <a:cs typeface="Montserrat" pitchFamily="34" charset="-120"/>
              </a:rPr>
              <a:t>It perceives more.</a:t>
            </a:r>
            <a:endParaRPr lang="en-US" sz="1700" dirty="0"/>
          </a:p>
        </p:txBody>
      </p:sp>
      <p:sp>
        <p:nvSpPr>
          <p:cNvPr id="12" name="Text 9"/>
          <p:cNvSpPr txBox="1"/>
          <p:nvPr/>
        </p:nvSpPr>
        <p:spPr>
          <a:xfrm>
            <a:off x="457200" y="2697480"/>
            <a:ext cx="3566160" cy="640080"/>
          </a:xfrm>
          <a:prstGeom prst="rect">
            <a:avLst/>
          </a:prstGeom>
          <a:noFill/>
          <a:ln/>
        </p:spPr>
        <p:txBody>
          <a:bodyPr wrap="square" lIns="0" tIns="0" rIns="0" bIns="0" rtlCol="0" anchor="ctr"/>
          <a:lstStyle/>
          <a:p>
            <a:pPr algn="r" indent="0" marL="0">
              <a:buNone/>
            </a:pPr>
            <a:r>
              <a:rPr lang="en-US" sz="2000" b="1" strike="sngStrike" dirty="0">
                <a:solidFill>
                  <a:srgbClr val="8A857C"/>
                </a:solidFill>
                <a:latin typeface="Playfair Display" pitchFamily="34" charset="0"/>
                <a:ea typeface="Playfair Display" pitchFamily="34" charset="-122"/>
                <a:cs typeface="Playfair Display" pitchFamily="34" charset="-120"/>
              </a:rPr>
              <a:t>Still, empty mind.</a:t>
            </a:r>
            <a:endParaRPr lang="en-US" sz="2000" dirty="0"/>
          </a:p>
        </p:txBody>
      </p:sp>
      <p:sp>
        <p:nvSpPr>
          <p:cNvPr id="13" name="Text 10"/>
          <p:cNvSpPr txBox="1"/>
          <p:nvPr/>
        </p:nvSpPr>
        <p:spPr>
          <a:xfrm>
            <a:off x="4160520" y="2697480"/>
            <a:ext cx="548640" cy="640080"/>
          </a:xfrm>
          <a:prstGeom prst="rect">
            <a:avLst/>
          </a:prstGeom>
          <a:noFill/>
          <a:ln/>
        </p:spPr>
        <p:txBody>
          <a:bodyPr wrap="square" lIns="0" tIns="0" rIns="0" bIns="0" rtlCol="0" anchor="ctr"/>
          <a:lstStyle/>
          <a:p>
            <a:pPr algn="ctr" indent="0" marL="0">
              <a:buNone/>
            </a:pPr>
            <a:r>
              <a:rPr lang="en-US" sz="1100" b="1" spc="300" kern="0" dirty="0">
                <a:solidFill>
                  <a:srgbClr val="B5382C"/>
                </a:solidFill>
                <a:latin typeface="Montserrat" pitchFamily="34" charset="0"/>
                <a:ea typeface="Montserrat" pitchFamily="34" charset="-122"/>
                <a:cs typeface="Montserrat" pitchFamily="34" charset="-120"/>
              </a:rPr>
              <a:t>NO</a:t>
            </a:r>
            <a:endParaRPr lang="en-US" sz="1100" dirty="0"/>
          </a:p>
        </p:txBody>
      </p:sp>
      <p:sp>
        <p:nvSpPr>
          <p:cNvPr id="14" name="Text 11"/>
          <p:cNvSpPr txBox="1"/>
          <p:nvPr/>
        </p:nvSpPr>
        <p:spPr>
          <a:xfrm>
            <a:off x="4846320" y="2697480"/>
            <a:ext cx="3840480" cy="640080"/>
          </a:xfrm>
          <a:prstGeom prst="rect">
            <a:avLst/>
          </a:prstGeom>
          <a:noFill/>
          <a:ln/>
        </p:spPr>
        <p:txBody>
          <a:bodyPr wrap="square" lIns="0" tIns="0" rIns="0" bIns="0" rtlCol="0" anchor="ctr"/>
          <a:lstStyle/>
          <a:p>
            <a:pPr algn="l" indent="0" marL="0">
              <a:buNone/>
            </a:pPr>
            <a:r>
              <a:rPr lang="en-US" sz="1700" b="1" dirty="0">
                <a:solidFill>
                  <a:srgbClr val="1C1C1C"/>
                </a:solidFill>
                <a:latin typeface="Montserrat" pitchFamily="34" charset="0"/>
                <a:ea typeface="Montserrat" pitchFamily="34" charset="-122"/>
                <a:cs typeface="Montserrat" pitchFamily="34" charset="-120"/>
              </a:rPr>
              <a:t>Exploring. And that runs on what you’ve got.</a:t>
            </a:r>
            <a:endParaRPr lang="en-US" sz="1700" dirty="0"/>
          </a:p>
        </p:txBody>
      </p:sp>
      <p:sp>
        <p:nvSpPr>
          <p:cNvPr id="15" name="Text 12"/>
          <p:cNvSpPr txBox="1"/>
          <p:nvPr/>
        </p:nvSpPr>
        <p:spPr>
          <a:xfrm>
            <a:off x="457200" y="3429000"/>
            <a:ext cx="3566160" cy="640080"/>
          </a:xfrm>
          <a:prstGeom prst="rect">
            <a:avLst/>
          </a:prstGeom>
          <a:noFill/>
          <a:ln/>
        </p:spPr>
        <p:txBody>
          <a:bodyPr wrap="square" lIns="0" tIns="0" rIns="0" bIns="0" rtlCol="0" anchor="ctr"/>
          <a:lstStyle/>
          <a:p>
            <a:pPr algn="r" indent="0" marL="0">
              <a:buNone/>
            </a:pPr>
            <a:r>
              <a:rPr lang="en-US" sz="2000" b="1" strike="sngStrike" dirty="0">
                <a:solidFill>
                  <a:srgbClr val="8A857C"/>
                </a:solidFill>
                <a:latin typeface="Playfair Display" pitchFamily="34" charset="0"/>
                <a:ea typeface="Playfair Display" pitchFamily="34" charset="-122"/>
                <a:cs typeface="Playfair Display" pitchFamily="34" charset="-120"/>
              </a:rPr>
              <a:t>Too many thoughts.</a:t>
            </a:r>
            <a:endParaRPr lang="en-US" sz="2000" dirty="0"/>
          </a:p>
        </p:txBody>
      </p:sp>
      <p:sp>
        <p:nvSpPr>
          <p:cNvPr id="16" name="Text 13"/>
          <p:cNvSpPr txBox="1"/>
          <p:nvPr/>
        </p:nvSpPr>
        <p:spPr>
          <a:xfrm>
            <a:off x="4160520" y="3429000"/>
            <a:ext cx="548640" cy="640080"/>
          </a:xfrm>
          <a:prstGeom prst="rect">
            <a:avLst/>
          </a:prstGeom>
          <a:noFill/>
          <a:ln/>
        </p:spPr>
        <p:txBody>
          <a:bodyPr wrap="square" lIns="0" tIns="0" rIns="0" bIns="0" rtlCol="0" anchor="ctr"/>
          <a:lstStyle/>
          <a:p>
            <a:pPr algn="ctr" indent="0" marL="0">
              <a:buNone/>
            </a:pPr>
            <a:r>
              <a:rPr lang="en-US" sz="1100" b="1" spc="300" kern="0" dirty="0">
                <a:solidFill>
                  <a:srgbClr val="B5382C"/>
                </a:solidFill>
                <a:latin typeface="Montserrat" pitchFamily="34" charset="0"/>
                <a:ea typeface="Montserrat" pitchFamily="34" charset="-122"/>
                <a:cs typeface="Montserrat" pitchFamily="34" charset="-120"/>
              </a:rPr>
              <a:t>NO</a:t>
            </a:r>
            <a:endParaRPr lang="en-US" sz="1100" dirty="0"/>
          </a:p>
        </p:txBody>
      </p:sp>
      <p:sp>
        <p:nvSpPr>
          <p:cNvPr id="17" name="Text 14"/>
          <p:cNvSpPr txBox="1"/>
          <p:nvPr/>
        </p:nvSpPr>
        <p:spPr>
          <a:xfrm>
            <a:off x="4846320" y="3429000"/>
            <a:ext cx="3840480" cy="640080"/>
          </a:xfrm>
          <a:prstGeom prst="rect">
            <a:avLst/>
          </a:prstGeom>
          <a:noFill/>
          <a:ln/>
        </p:spPr>
        <p:txBody>
          <a:bodyPr wrap="square" lIns="0" tIns="0" rIns="0" bIns="0" rtlCol="0" anchor="ctr"/>
          <a:lstStyle/>
          <a:p>
            <a:pPr algn="l" indent="0" marL="0">
              <a:buNone/>
            </a:pPr>
            <a:r>
              <a:rPr lang="en-US" sz="1700" b="1" dirty="0">
                <a:solidFill>
                  <a:srgbClr val="1C1C1C"/>
                </a:solidFill>
                <a:latin typeface="Montserrat" pitchFamily="34" charset="0"/>
                <a:ea typeface="Montserrat" pitchFamily="34" charset="-122"/>
                <a:cs typeface="Montserrat" pitchFamily="34" charset="-120"/>
              </a:rPr>
              <a:t>Tension leaving. Notice, return.</a:t>
            </a:r>
            <a:endParaRPr lang="en-US" sz="1700" dirty="0"/>
          </a:p>
        </p:txBody>
      </p:sp>
      <p:sp>
        <p:nvSpPr>
          <p:cNvPr id="18" name="Text 15"/>
          <p:cNvSpPr txBox="1"/>
          <p:nvPr/>
        </p:nvSpPr>
        <p:spPr>
          <a:xfrm>
            <a:off x="457200" y="4160520"/>
            <a:ext cx="3566160" cy="640080"/>
          </a:xfrm>
          <a:prstGeom prst="rect">
            <a:avLst/>
          </a:prstGeom>
          <a:noFill/>
          <a:ln/>
        </p:spPr>
        <p:txBody>
          <a:bodyPr wrap="square" lIns="0" tIns="0" rIns="0" bIns="0" rtlCol="0" anchor="ctr"/>
          <a:lstStyle/>
          <a:p>
            <a:pPr algn="r" indent="0" marL="0">
              <a:buNone/>
            </a:pPr>
            <a:r>
              <a:rPr lang="en-US" sz="2000" b="1" strike="sngStrike" dirty="0">
                <a:solidFill>
                  <a:srgbClr val="8A857C"/>
                </a:solidFill>
                <a:latin typeface="Playfair Display" pitchFamily="34" charset="0"/>
                <a:ea typeface="Playfair Display" pitchFamily="34" charset="-122"/>
                <a:cs typeface="Playfair Display" pitchFamily="34" charset="-120"/>
              </a:rPr>
              <a:t>Meditate more and it comes.</a:t>
            </a:r>
            <a:endParaRPr lang="en-US" sz="2000" dirty="0"/>
          </a:p>
        </p:txBody>
      </p:sp>
      <p:sp>
        <p:nvSpPr>
          <p:cNvPr id="19" name="Text 16"/>
          <p:cNvSpPr txBox="1"/>
          <p:nvPr/>
        </p:nvSpPr>
        <p:spPr>
          <a:xfrm>
            <a:off x="4160520" y="4160520"/>
            <a:ext cx="548640" cy="640080"/>
          </a:xfrm>
          <a:prstGeom prst="rect">
            <a:avLst/>
          </a:prstGeom>
          <a:noFill/>
          <a:ln/>
        </p:spPr>
        <p:txBody>
          <a:bodyPr wrap="square" lIns="0" tIns="0" rIns="0" bIns="0" rtlCol="0" anchor="ctr"/>
          <a:lstStyle/>
          <a:p>
            <a:pPr algn="ctr" indent="0" marL="0">
              <a:buNone/>
            </a:pPr>
            <a:r>
              <a:rPr lang="en-US" sz="1100" b="1" spc="300" kern="0" dirty="0">
                <a:solidFill>
                  <a:srgbClr val="B5382C"/>
                </a:solidFill>
                <a:latin typeface="Montserrat" pitchFamily="34" charset="0"/>
                <a:ea typeface="Montserrat" pitchFamily="34" charset="-122"/>
                <a:cs typeface="Montserrat" pitchFamily="34" charset="-120"/>
              </a:rPr>
              <a:t>NO</a:t>
            </a:r>
            <a:endParaRPr lang="en-US" sz="1100" dirty="0"/>
          </a:p>
        </p:txBody>
      </p:sp>
      <p:sp>
        <p:nvSpPr>
          <p:cNvPr id="20" name="Text 17"/>
          <p:cNvSpPr txBox="1"/>
          <p:nvPr/>
        </p:nvSpPr>
        <p:spPr>
          <a:xfrm>
            <a:off x="4846320" y="4160520"/>
            <a:ext cx="3840480" cy="640080"/>
          </a:xfrm>
          <a:prstGeom prst="rect">
            <a:avLst/>
          </a:prstGeom>
          <a:noFill/>
          <a:ln/>
        </p:spPr>
        <p:txBody>
          <a:bodyPr wrap="square" lIns="0" tIns="0" rIns="0" bIns="0" rtlCol="0" anchor="ctr"/>
          <a:lstStyle/>
          <a:p>
            <a:pPr algn="l" indent="0" marL="0">
              <a:buNone/>
            </a:pPr>
            <a:r>
              <a:rPr lang="en-US" sz="1700" b="1" dirty="0">
                <a:solidFill>
                  <a:srgbClr val="1C1C1C"/>
                </a:solidFill>
                <a:latin typeface="Montserrat" pitchFamily="34" charset="0"/>
                <a:ea typeface="Montserrat" pitchFamily="34" charset="-122"/>
                <a:cs typeface="Montserrat" pitchFamily="34" charset="-120"/>
              </a:rPr>
              <a:t>A tool. Development is the goal.</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EA"/>
        </a:solidFill>
      </p:bgPr>
    </p:bg>
    <p:spTree>
      <p:nvGrpSpPr>
        <p:cNvPr id="1" name=""/>
        <p:cNvGrpSpPr/>
        <p:nvPr/>
      </p:nvGrpSpPr>
      <p:grpSpPr>
        <a:xfrm>
          <a:off x="0" y="0"/>
          <a:ext cx="0" cy="0"/>
          <a:chOff x="0" y="0"/>
          <a:chExt cx="0" cy="0"/>
        </a:xfrm>
      </p:grpSpPr>
      <p:sp>
        <p:nvSpPr>
          <p:cNvPr id="3" name="Text 0"/>
          <p:cNvSpPr txBox="1"/>
          <p:nvPr/>
        </p:nvSpPr>
        <p:spPr>
          <a:xfrm>
            <a:off x="640080" y="914400"/>
            <a:ext cx="7863840" cy="137160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Don’t repeat. </a:t>
            </a:r>
            <a:pPr algn="ctr" indent="0" marL="0">
              <a:lnSpc>
                <a:spcPct val="105000"/>
              </a:lnSpc>
              <a:buNone/>
            </a:pPr>
            <a:r>
              <a:rPr lang="en-US" sz="4400" b="1" dirty="0">
                <a:solidFill>
                  <a:srgbClr val="B5382C"/>
                </a:solidFill>
                <a:latin typeface="Playfair Display" pitchFamily="34" charset="0"/>
                <a:ea typeface="Playfair Display" pitchFamily="34" charset="-122"/>
                <a:cs typeface="Playfair Display" pitchFamily="34" charset="-120"/>
              </a:rPr>
              <a:t>Explore.</a:t>
            </a:r>
            <a:endParaRPr lang="en-US" sz="4400" dirty="0"/>
          </a:p>
        </p:txBody>
      </p:sp>
      <p:sp>
        <p:nvSpPr>
          <p:cNvPr id="4" name="Text 1"/>
          <p:cNvSpPr txBox="1"/>
          <p:nvPr/>
        </p:nvSpPr>
        <p:spPr>
          <a:xfrm>
            <a:off x="640080" y="2651760"/>
            <a:ext cx="7863840" cy="1371600"/>
          </a:xfrm>
          <a:prstGeom prst="rect">
            <a:avLst/>
          </a:prstGeom>
          <a:noFill/>
          <a:ln/>
        </p:spPr>
        <p:txBody>
          <a:bodyPr wrap="square" lIns="0" tIns="0" rIns="0" bIns="0" rtlCol="0" anchor="ctr"/>
          <a:lstStyle/>
          <a:p>
            <a:pPr algn="ctr" indent="0" marL="0">
              <a:lnSpc>
                <a:spcPct val="105000"/>
              </a:lnSpc>
              <a:buNone/>
            </a:pPr>
            <a:r>
              <a:rPr lang="en-US" sz="4400" b="1" dirty="0">
                <a:solidFill>
                  <a:srgbClr val="1C1C1C"/>
                </a:solidFill>
                <a:latin typeface="Playfair Display" pitchFamily="34" charset="0"/>
                <a:ea typeface="Playfair Display" pitchFamily="34" charset="-122"/>
                <a:cs typeface="Playfair Display" pitchFamily="34" charset="-120"/>
              </a:rPr>
              <a:t>Don’t force. </a:t>
            </a:r>
            <a:pPr algn="ctr" indent="0" marL="0">
              <a:lnSpc>
                <a:spcPct val="105000"/>
              </a:lnSpc>
              <a:buNone/>
            </a:pPr>
            <a:r>
              <a:rPr lang="en-US" sz="4400" b="1" dirty="0">
                <a:solidFill>
                  <a:srgbClr val="B5382C"/>
                </a:solidFill>
                <a:latin typeface="Playfair Display" pitchFamily="34" charset="0"/>
                <a:ea typeface="Playfair Display" pitchFamily="34" charset="-122"/>
                <a:cs typeface="Playfair Display" pitchFamily="34" charset="-120"/>
              </a:rPr>
              <a:t>Set up conditions.</a:t>
            </a:r>
            <a:endParaRPr lang="en-US" sz="4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A"/>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ADHD Is a Meditation Superpower</dc:title>
  <dc:subject>PptxGenJS Presentation</dc:subject>
  <dc:creator>PptxGenJS</dc:creator>
  <cp:lastModifiedBy>PptxGenJS</cp:lastModifiedBy>
  <cp:revision>1</cp:revision>
  <dcterms:created xsi:type="dcterms:W3CDTF">2026-09-23T10:46:03Z</dcterms:created>
  <dcterms:modified xsi:type="dcterms:W3CDTF">2026-09-23T10:46:03Z</dcterms:modified>
</cp:coreProperties>
</file>